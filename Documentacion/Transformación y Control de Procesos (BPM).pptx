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20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4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1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2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3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5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3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6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9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102F2-CB74-4432-97AA-282D90FDCE3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131F4-5A08-4F79-928B-ACF22F7A7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3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Transformación y Control de Procesos (BPM) 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s-EC" b="1" dirty="0"/>
              <a:t>Centralización y Automatización:</a:t>
            </a:r>
            <a:r>
              <a:rPr lang="es-EC" dirty="0"/>
              <a:t> Orquesta y automatiza los flujos de trabajo (</a:t>
            </a:r>
            <a:r>
              <a:rPr lang="es-EC" dirty="0" err="1"/>
              <a:t>workflows</a:t>
            </a:r>
            <a:r>
              <a:rPr lang="es-EC" dirty="0"/>
              <a:t>) de la organización, eliminando el uso de correos y hojas de cálculo descentralizadas.</a:t>
            </a:r>
            <a:endParaRPr lang="en-US" dirty="0"/>
          </a:p>
          <a:p>
            <a:pPr lvl="0"/>
            <a:r>
              <a:rPr lang="es-EC" b="1" dirty="0"/>
              <a:t>Trazabilidad Total:</a:t>
            </a:r>
            <a:r>
              <a:rPr lang="es-EC" dirty="0"/>
              <a:t> Monitoreo en tiempo real del estado de cada solicitud. Permite saber exactamente en qué etapa está un proceso y quién es el responsable actual.</a:t>
            </a:r>
            <a:endParaRPr lang="en-US" dirty="0"/>
          </a:p>
          <a:p>
            <a:pPr lvl="0"/>
            <a:r>
              <a:rPr lang="es-EC" b="1" dirty="0"/>
              <a:t>Reglas de Negocio Claras:</a:t>
            </a:r>
            <a:r>
              <a:rPr lang="es-EC" dirty="0"/>
              <a:t> Asegura que los procesos organizacionales se cumplan siguiendo pasos y aprobaciones estandarizadas (cero saltos de proceso).</a:t>
            </a:r>
            <a:endParaRPr lang="en-US" dirty="0"/>
          </a:p>
          <a:p>
            <a:r>
              <a:rPr lang="es-EC" b="1" dirty="0"/>
              <a:t>Visibilidad y Auditoría:</a:t>
            </a:r>
            <a:r>
              <a:rPr lang="es-EC" dirty="0"/>
              <a:t> Generación de información valiosa sobre tiempos de atención, cuellos de botella y eficiencia de los equipos</a:t>
            </a:r>
            <a:r>
              <a:rPr lang="es-EC" dirty="0" smtClean="0"/>
              <a:t>.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4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Nuestro Valor Agregado 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s-EC" b="1" dirty="0"/>
              <a:t>Arquitectura Moderna y Propia:</a:t>
            </a:r>
            <a:r>
              <a:rPr lang="es-EC" dirty="0"/>
              <a:t> Desarrollado con tecnologías líderes y ligeras (</a:t>
            </a:r>
            <a:r>
              <a:rPr lang="es-EC" dirty="0" err="1"/>
              <a:t>Backend</a:t>
            </a:r>
            <a:r>
              <a:rPr lang="es-EC" dirty="0"/>
              <a:t> robusto y Portal Web ágil), lo que evita la dependencia de licencias costosas de suites BPM tradicionales y pesadas.</a:t>
            </a:r>
            <a:endParaRPr lang="en-US" dirty="0"/>
          </a:p>
          <a:p>
            <a:pPr lvl="0"/>
            <a:r>
              <a:rPr lang="es-EC" b="1" dirty="0"/>
              <a:t>Alta Flexibilidad y Personalización:</a:t>
            </a:r>
            <a:r>
              <a:rPr lang="es-EC" dirty="0"/>
              <a:t> Se adapta exactamente a la realidad de la empresa, no obligamos a la empresa a adaptarse al software.</a:t>
            </a:r>
            <a:endParaRPr lang="en-US" dirty="0"/>
          </a:p>
          <a:p>
            <a:pPr lvl="0"/>
            <a:r>
              <a:rPr lang="es-EC" b="1" dirty="0"/>
              <a:t>Integración Sencilla (</a:t>
            </a:r>
            <a:r>
              <a:rPr lang="es-EC" b="1" dirty="0" err="1"/>
              <a:t>APIs</a:t>
            </a:r>
            <a:r>
              <a:rPr lang="es-EC" b="1" dirty="0"/>
              <a:t>):</a:t>
            </a:r>
            <a:r>
              <a:rPr lang="es-EC" dirty="0"/>
              <a:t> Facilidad para conectarse y dialogar de forma nativa con otros sistemas existentes en la empresa (</a:t>
            </a:r>
            <a:r>
              <a:rPr lang="es-EC" dirty="0" err="1"/>
              <a:t>ERPs</a:t>
            </a:r>
            <a:r>
              <a:rPr lang="es-EC" dirty="0"/>
              <a:t>, </a:t>
            </a:r>
            <a:r>
              <a:rPr lang="es-EC" dirty="0" err="1"/>
              <a:t>CRMs</a:t>
            </a:r>
            <a:r>
              <a:rPr lang="es-EC" dirty="0"/>
              <a:t>, facturación).</a:t>
            </a:r>
            <a:endParaRPr lang="en-US" dirty="0"/>
          </a:p>
          <a:p>
            <a:pPr lvl="0"/>
            <a:r>
              <a:rPr lang="es-EC" b="1" dirty="0"/>
              <a:t>Experiencia de Usuario (UX) Intuitiva:</a:t>
            </a:r>
            <a:r>
              <a:rPr lang="es-EC" dirty="0"/>
              <a:t> Portal web centralizado y amigable que reduce drásticamente la curva de aprendizaje de los colaboradores.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4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 err="1"/>
              <a:t>Roadmap</a:t>
            </a:r>
            <a:r>
              <a:rPr lang="es-EC" dirty="0"/>
              <a:t> de Implementación Ágil 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s-EC" b="1" dirty="0"/>
              <a:t>Fase 1: Descubrimiento y Diseño (1 - 2 semanas)</a:t>
            </a:r>
            <a:endParaRPr lang="en-US" sz="3200" dirty="0"/>
          </a:p>
          <a:p>
            <a:pPr lvl="1"/>
            <a:r>
              <a:rPr lang="es-EC" dirty="0"/>
              <a:t>Levantamiento de requerimientos y mapeo del proceso actual (As-</a:t>
            </a:r>
            <a:r>
              <a:rPr lang="es-EC" dirty="0" err="1"/>
              <a:t>Is</a:t>
            </a:r>
            <a:r>
              <a:rPr lang="es-EC" dirty="0"/>
              <a:t>) al deseado (To-Be).</a:t>
            </a:r>
            <a:endParaRPr lang="en-US" sz="2800" dirty="0"/>
          </a:p>
          <a:p>
            <a:pPr lvl="0"/>
            <a:r>
              <a:rPr lang="es-EC" b="1" dirty="0"/>
              <a:t>Fase 2: Configuración y Desarrollo (2 - 4 semanas)</a:t>
            </a:r>
            <a:endParaRPr lang="en-US" sz="3200" dirty="0"/>
          </a:p>
          <a:p>
            <a:pPr lvl="1"/>
            <a:r>
              <a:rPr lang="es-EC" dirty="0"/>
              <a:t>Parametrización de flujos, reglas de negocio, roles de usuario e integraciones necesarias.</a:t>
            </a:r>
            <a:endParaRPr lang="en-US" sz="2800" dirty="0"/>
          </a:p>
          <a:p>
            <a:pPr lvl="0"/>
            <a:r>
              <a:rPr lang="es-EC" b="1" dirty="0"/>
              <a:t>Fase 3: Pruebas y Despliegue (1 - 2 semanas)</a:t>
            </a:r>
            <a:endParaRPr lang="en-US" sz="3200" dirty="0"/>
          </a:p>
          <a:p>
            <a:pPr lvl="1"/>
            <a:r>
              <a:rPr lang="es-EC" dirty="0"/>
              <a:t>Pruebas de usuario (UAT), ajustes finales, capacitación a los equipos y salida a producción (</a:t>
            </a:r>
            <a:r>
              <a:rPr lang="es-EC" dirty="0" err="1"/>
              <a:t>Go</a:t>
            </a:r>
            <a:r>
              <a:rPr lang="es-EC" dirty="0"/>
              <a:t>-Live).</a:t>
            </a:r>
            <a:endParaRPr lang="en-US" sz="2800" dirty="0"/>
          </a:p>
          <a:p>
            <a:pPr lvl="0"/>
            <a:r>
              <a:rPr lang="en-US" b="1" dirty="0"/>
              <a:t>🎯</a:t>
            </a:r>
            <a:r>
              <a:rPr lang="es-EC" b="1" dirty="0"/>
              <a:t> Tiempo Total Estimado:</a:t>
            </a:r>
            <a:r>
              <a:rPr lang="es-EC" dirty="0"/>
              <a:t> </a:t>
            </a:r>
            <a:r>
              <a:rPr lang="es-EC" b="1" dirty="0"/>
              <a:t>1 a 2 meses</a:t>
            </a:r>
            <a:r>
              <a:rPr lang="es-EC" dirty="0"/>
              <a:t> para tener el primer proceso automatizado y operando con éxito.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806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Panorámica</PresentationFormat>
  <Paragraphs>18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Transformación y Control de Procesos (BPM) </vt:lpstr>
      <vt:lpstr>Nuestro Valor Agregado </vt:lpstr>
      <vt:lpstr>Roadmap de Implementación Ágil 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Transformación y Control de Procesos (BPM) </dc:title>
  <dc:creator>Juan Francisco Minango Tapia</dc:creator>
  <cp:lastModifiedBy>Juan Francisco Minango Tapia</cp:lastModifiedBy>
  <cp:revision>1</cp:revision>
  <dcterms:created xsi:type="dcterms:W3CDTF">2026-07-21T16:07:23Z</dcterms:created>
  <dcterms:modified xsi:type="dcterms:W3CDTF">2026-07-21T16:08:00Z</dcterms:modified>
</cp:coreProperties>
</file>